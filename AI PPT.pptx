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58" r:id="rId5"/>
    <p:sldId id="260" r:id="rId6"/>
    <p:sldId id="263" r:id="rId7"/>
    <p:sldId id="261" r:id="rId8"/>
    <p:sldId id="264" r:id="rId9"/>
    <p:sldId id="265"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FF25FD-D9B7-41D5-B507-41A8EBA30124}" v="10" dt="2025-11-05T09:57:39.3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oni kohli" userId="ced05e3817a4069e" providerId="LiveId" clId="{2FAA163C-CD2F-4D1A-ACB9-1CD85692779F}"/>
    <pc:docChg chg="modSld">
      <pc:chgData name="dhoni kohli" userId="ced05e3817a4069e" providerId="LiveId" clId="{2FAA163C-CD2F-4D1A-ACB9-1CD85692779F}" dt="2025-11-05T09:57:39.396" v="33"/>
      <pc:docMkLst>
        <pc:docMk/>
      </pc:docMkLst>
      <pc:sldChg chg="modSp mod">
        <pc:chgData name="dhoni kohli" userId="ced05e3817a4069e" providerId="LiveId" clId="{2FAA163C-CD2F-4D1A-ACB9-1CD85692779F}" dt="2025-11-05T09:57:39.396" v="33"/>
        <pc:sldMkLst>
          <pc:docMk/>
          <pc:sldMk cId="519586359" sldId="258"/>
        </pc:sldMkLst>
        <pc:graphicFrameChg chg="mod modGraphic">
          <ac:chgData name="dhoni kohli" userId="ced05e3817a4069e" providerId="LiveId" clId="{2FAA163C-CD2F-4D1A-ACB9-1CD85692779F}" dt="2025-11-05T09:57:39.396" v="33"/>
          <ac:graphicFrameMkLst>
            <pc:docMk/>
            <pc:sldMk cId="519586359" sldId="258"/>
            <ac:graphicFrameMk id="7" creationId="{ACE64048-76D1-E559-97A6-1E9DA8CC9F6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476D98-D61B-4655-9F07-885518B2E134}" type="slidenum">
              <a:rPr lang="en-US" smtClean="0"/>
              <a:t>5</a:t>
            </a:fld>
            <a:endParaRPr lang="en-US"/>
          </a:p>
        </p:txBody>
      </p:sp>
    </p:spTree>
    <p:extLst>
      <p:ext uri="{BB962C8B-B14F-4D97-AF65-F5344CB8AC3E}">
        <p14:creationId xmlns:p14="http://schemas.microsoft.com/office/powerpoint/2010/main" val="44242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DC0536B1-3934-4B79-A54E-452D8D978141}" type="datetime1">
              <a:rPr lang="en-US" smtClean="0"/>
              <a:t>11/5/2025</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8A67A983-ECC0-4AAA-8372-8FC347684302}" type="datetime1">
              <a:rPr lang="en-US" smtClean="0"/>
              <a:t>11/5/2025</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23BE2684-7626-4AB9-86CF-C5E82DA39052}" type="datetime1">
              <a:rPr lang="en-US" smtClean="0"/>
              <a:t>11/5/2025</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585D6466-9DFD-4355-B9B8-D1557D1C35DA}" type="datetime1">
              <a:rPr lang="en-US" smtClean="0"/>
              <a:t>11/5/2025</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5F369E21-C5E4-43A6-AC44-BD0F1755D507}" type="datetime1">
              <a:rPr lang="en-US" smtClean="0"/>
              <a:t>11/5/2025</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9654D4B0-F004-44EF-838D-BCBC578C8C73}" type="datetime1">
              <a:rPr lang="en-US" smtClean="0"/>
              <a:t>11/5/2025</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1E73A156-5B7D-4C7D-B728-DFB1483B1C8E}" type="datetime1">
              <a:rPr lang="en-US" smtClean="0"/>
              <a:t>11/5/2025</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668322D5-90BC-498E-B38F-0061FF231176}" type="datetime1">
              <a:rPr lang="en-US" smtClean="0"/>
              <a:t>11/5/2025</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83153B04-7DD3-4665-A63D-2C4A23969FEA}" type="datetime1">
              <a:rPr lang="en-US" smtClean="0"/>
              <a:t>11/5/2025</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4DFB076F-09AE-4F80-B4F0-B9FDD1FE7EE7}" type="datetime1">
              <a:rPr lang="en-US" smtClean="0"/>
              <a:t>11/5/2025</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4F6A14FF-D08D-4373-A4AC-0389F0159A8F}" type="datetime1">
              <a:rPr lang="en-US" smtClean="0"/>
              <a:t>11/5/2025</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FF77C-1663-4BD1-8628-5D8A1A9D7640}" type="datetime1">
              <a:rPr lang="en-US" smtClean="0"/>
              <a:t>11/5/2025</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pygame.org/docs/" TargetMode="External"/><Relationship Id="rId2" Type="http://schemas.openxmlformats.org/officeDocument/2006/relationships/hyperlink" Target="https://www.geeksforgeeks.org/minimax-algorithm-in-game-theory-set-1-introduc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AND DATA SCIENCE</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t>
            </a:r>
            <a:r>
              <a:rPr lang="en-GB" sz="2400" b="1" dirty="0">
                <a:solidFill>
                  <a:srgbClr val="FF0000"/>
                </a:solidFill>
                <a:latin typeface="Times New Roman" panose="02020603050405020304" pitchFamily="18" charset="0"/>
                <a:cs typeface="Times New Roman" panose="02020603050405020304" pitchFamily="18" charset="0"/>
              </a:rPr>
              <a:t>TIC-TAC-TOE USING MINIMAX WITH ALPHA-BETA PRUNING</a:t>
            </a:r>
            <a:endParaRPr 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2359242037"/>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US" dirty="0"/>
                        <a:t>2117240070277</a:t>
                      </a:r>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dirty="0"/>
                        <a:t>Santhosh Kumar S</a:t>
                      </a:r>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dirty="0"/>
                        <a:t>II</a:t>
                      </a:r>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a:t>E</a:t>
                      </a:r>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US" b="1" dirty="0"/>
                        <a:t>BHAVANI M</a:t>
                      </a:r>
                    </a:p>
                  </a:txBody>
                  <a:tcPr/>
                </a:tc>
                <a:extLst>
                  <a:ext uri="{0D108BD9-81ED-4DB2-BD59-A6C34878D82A}">
                    <a16:rowId xmlns:a16="http://schemas.microsoft.com/office/drawing/2014/main" val="3536199969"/>
                  </a:ext>
                </a:extLst>
              </a:tr>
            </a:tbl>
          </a:graphicData>
        </a:graphic>
      </p:graphicFrame>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51F73201-4CAB-4FD3-9EDE-6AB92A91B99A}" type="datetime1">
              <a:rPr lang="en-US" smtClean="0"/>
              <a:t>11/5/2025</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FAE17474-C476-1051-3F37-A2159E2BEE57}"/>
              </a:ext>
            </a:extLst>
          </p:cNvPr>
          <p:cNvSpPr>
            <a:spLocks noGrp="1"/>
          </p:cNvSpPr>
          <p:nvPr>
            <p:ph idx="1"/>
          </p:nvPr>
        </p:nvSpPr>
        <p:spPr>
          <a:xfrm>
            <a:off x="838200" y="1064844"/>
            <a:ext cx="10515600" cy="5358816"/>
          </a:xfrm>
        </p:spPr>
        <p:txBody>
          <a:bodyPr/>
          <a:lstStyle/>
          <a:p>
            <a:r>
              <a:rPr lang="en-US" dirty="0"/>
              <a:t>The objective of this project is to design and develop an intelligent Tic-Tac-Toe game using the </a:t>
            </a:r>
            <a:r>
              <a:rPr lang="en-US" dirty="0" err="1"/>
              <a:t>MiniMax</a:t>
            </a:r>
            <a:r>
              <a:rPr lang="en-US" dirty="0"/>
              <a:t> algorithm with Alpha-Beta pruning, where the computer plays as an optimal opponent against a human user. The system must evaluate all possible moves, predict the opponent’s responses, and always select the best strategy to either win or force a draw. The project includes a graphical user interface built using Python and </a:t>
            </a:r>
            <a:r>
              <a:rPr lang="en-US" dirty="0" err="1"/>
              <a:t>Pygame</a:t>
            </a:r>
            <a:r>
              <a:rPr lang="en-US" dirty="0"/>
              <a:t>, allowing interactive gameplay, real-time move calculations, and display of performance metrics such as nodes evaluated, pruned nodes, and computation time. The goal is to demonstrate the application of artificial intelligence search algorithms in game decision-making and optimize the execution through pruning techniques.</a:t>
            </a:r>
            <a:endParaRPr lang="en-IN" dirty="0"/>
          </a:p>
          <a:p>
            <a:endParaRPr lang="en-US" dirty="0"/>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p:txBody>
          <a:bodyPr/>
          <a:lstStyle/>
          <a:p>
            <a:fld id="{F9342E28-58C6-4922-9367-93A2EF0C6698}" type="datetime1">
              <a:rPr lang="en-US" smtClean="0"/>
              <a:t>11/5/2025</a:t>
            </a:fld>
            <a:endParaRPr lang="en-US"/>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id="{FE67243E-1300-82BE-9968-6837E801AFFC}"/>
              </a:ext>
            </a:extLst>
          </p:cNvPr>
          <p:cNvSpPr>
            <a:spLocks noGrp="1"/>
          </p:cNvSpPr>
          <p:nvPr>
            <p:ph idx="1"/>
          </p:nvPr>
        </p:nvSpPr>
        <p:spPr>
          <a:xfrm>
            <a:off x="736600" y="997534"/>
            <a:ext cx="10515600" cy="5358816"/>
          </a:xfrm>
        </p:spPr>
        <p:txBody>
          <a:bodyPr>
            <a:normAutofit fontScale="25000" lnSpcReduction="20000"/>
          </a:bodyPr>
          <a:lstStyle/>
          <a:p>
            <a:r>
              <a:rPr lang="en-IN" sz="8800" dirty="0"/>
              <a:t>Artificial Intelligence (AI) enables machines to simulate human intelligence and decision-making. One of the classical problem-solving areas in AI is </a:t>
            </a:r>
            <a:r>
              <a:rPr lang="en-IN" sz="8800" b="1" dirty="0"/>
              <a:t>game playing</a:t>
            </a:r>
            <a:r>
              <a:rPr lang="en-IN" sz="8800" dirty="0"/>
              <a:t>, where algorithms evaluate possible moves and choose the most advantageous outcome. Tic-Tac-Toe is a fundamental two-player, zero-sum strategy game often used as a benchmark for understanding AI search algorithms due to its limited state space and deterministic nature.</a:t>
            </a:r>
          </a:p>
          <a:p>
            <a:r>
              <a:rPr lang="en-IN" sz="8800" dirty="0"/>
              <a:t>This project uses the </a:t>
            </a:r>
            <a:r>
              <a:rPr lang="en-IN" sz="8800" b="1" dirty="0" err="1"/>
              <a:t>MiniMax</a:t>
            </a:r>
            <a:r>
              <a:rPr lang="en-IN" sz="8800" b="1" dirty="0"/>
              <a:t> algorithm</a:t>
            </a:r>
            <a:r>
              <a:rPr lang="en-IN" sz="8800" dirty="0"/>
              <a:t>, a recursive decision-making technique widely applied in turn-based games. </a:t>
            </a:r>
            <a:r>
              <a:rPr lang="en-IN" sz="8800" dirty="0" err="1"/>
              <a:t>MiniMax</a:t>
            </a:r>
            <a:r>
              <a:rPr lang="en-IN" sz="8800" dirty="0"/>
              <a:t> operates by exploring all possible future game states and selecting the move that maximizes the AI's chance of winning while minimizing the human player’s chances. It assumes that both players play optimally, making it a perfect-play algorithm. However, </a:t>
            </a:r>
            <a:r>
              <a:rPr lang="en-IN" sz="8800" dirty="0" err="1"/>
              <a:t>MiniMax</a:t>
            </a:r>
            <a:r>
              <a:rPr lang="en-IN" sz="8800" dirty="0"/>
              <a:t> can be computationally expensive due to its exhaustive search of the game tree.</a:t>
            </a:r>
          </a:p>
          <a:p>
            <a:r>
              <a:rPr lang="en-IN" sz="8800" dirty="0"/>
              <a:t>To optimize </a:t>
            </a:r>
            <a:r>
              <a:rPr lang="en-IN" sz="8800" dirty="0" err="1"/>
              <a:t>MiniMax</a:t>
            </a:r>
            <a:r>
              <a:rPr lang="en-IN" sz="8800" dirty="0"/>
              <a:t>, </a:t>
            </a:r>
            <a:r>
              <a:rPr lang="en-IN" sz="8800" b="1" dirty="0"/>
              <a:t>Alpha-Beta Pruning</a:t>
            </a:r>
            <a:r>
              <a:rPr lang="en-IN" sz="8800" dirty="0"/>
              <a:t> is applied. Alpha-Beta Pruning eliminates branches in the decision tree that do not influence the final result, thereby reducing the number of evaluated nodes without affecting accuracy. This significantly improves performance and reduces computation time.</a:t>
            </a:r>
          </a:p>
          <a:p>
            <a:r>
              <a:rPr lang="en-IN" sz="8800" dirty="0"/>
              <a:t>Additionally, a </a:t>
            </a:r>
            <a:r>
              <a:rPr lang="en-IN" sz="8800" b="1" dirty="0"/>
              <a:t>Graphical User Interface (GUI)</a:t>
            </a:r>
            <a:r>
              <a:rPr lang="en-IN" sz="8800" dirty="0"/>
              <a:t> is implemented using </a:t>
            </a:r>
            <a:r>
              <a:rPr lang="en-IN" sz="8800" b="1" dirty="0"/>
              <a:t>Python's </a:t>
            </a:r>
            <a:r>
              <a:rPr lang="en-IN" sz="8800" b="1" dirty="0" err="1"/>
              <a:t>Pygame</a:t>
            </a:r>
            <a:r>
              <a:rPr lang="en-IN" sz="8800" b="1" dirty="0"/>
              <a:t> library</a:t>
            </a:r>
            <a:r>
              <a:rPr lang="en-IN" sz="8800" dirty="0"/>
              <a:t>, providing interactive gameplay and real-time visualization of AI decisions. The system also displays performance metrics including the number of evaluated nodes, pruned branches, and execution time. This combination of search algorithms and visualization demonstrates how AI techniques can be applied in real-time game environments and highlights the effectiveness of pruning in decision-making systems.</a:t>
            </a:r>
          </a:p>
          <a:p>
            <a:pPr marL="457200" lvl="1" indent="0">
              <a:buNone/>
            </a:pPr>
            <a:endParaRPr lang="en-US" dirty="0"/>
          </a:p>
          <a:p>
            <a:endParaRPr lang="en-US" dirty="0"/>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00E54E42-D662-4EB4-93FD-4FD83CFB0403}" type="datetime1">
              <a:rPr lang="en-US" smtClean="0"/>
              <a:t>11/5/2025</a:t>
            </a:fld>
            <a:endParaRPr lang="en-US"/>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2BF48C6F-4075-4461-BA6B-706D9FEF6037}" type="datetime1">
              <a:rPr lang="en-US" smtClean="0"/>
              <a:t>11/5/2025</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4</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2567959274"/>
              </p:ext>
            </p:extLst>
          </p:nvPr>
        </p:nvGraphicFramePr>
        <p:xfrm>
          <a:off x="1854200" y="2205222"/>
          <a:ext cx="8128000" cy="256540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4052004335"/>
                    </a:ext>
                  </a:extLst>
                </a:gridCol>
                <a:gridCol w="4064000">
                  <a:extLst>
                    <a:ext uri="{9D8B030D-6E8A-4147-A177-3AD203B41FA5}">
                      <a16:colId xmlns:a16="http://schemas.microsoft.com/office/drawing/2014/main" val="1251959847"/>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370840">
                <a:tc>
                  <a:txBody>
                    <a:bodyPr/>
                    <a:lstStyle/>
                    <a:p>
                      <a:r>
                        <a:rPr lang="en-GB" dirty="0">
                          <a:solidFill>
                            <a:schemeClr val="tx1"/>
                          </a:solidFill>
                        </a:rPr>
                        <a:t>Implementation of Code Link                          </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u="sng" dirty="0">
                          <a:solidFill>
                            <a:schemeClr val="tx1"/>
                          </a:solidFill>
                        </a:rPr>
                        <a:t>https://github.com/JaCk-17-tech/AI-MINI_PROJECT/blob/main/AI%20mini%20project.py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https://github.com/JaCk-17-tech/AI-MINI_PROJECT/blob/main/AI%20REPORT.docx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581D052C-32F9-4190-8E87-ECFA59D621BA}" type="datetime1">
              <a:rPr lang="en-US" smtClean="0"/>
              <a:t>11/5/2025</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5</a:t>
            </a:fld>
            <a:endParaRPr lang="en-US"/>
          </a:p>
        </p:txBody>
      </p:sp>
      <p:pic>
        <p:nvPicPr>
          <p:cNvPr id="6" name="Content Placeholder 5" descr="e26d648f-8934-4fdc-b640-63abc8532eb7.png">
            <a:extLst>
              <a:ext uri="{FF2B5EF4-FFF2-40B4-BE49-F238E27FC236}">
                <a16:creationId xmlns:a16="http://schemas.microsoft.com/office/drawing/2014/main" id="{1E9E5468-9866-C4CF-1ADB-410ACFA9CB4B}"/>
              </a:ext>
            </a:extLst>
          </p:cNvPr>
          <p:cNvPicPr>
            <a:picLocks noGrp="1" noChangeAspect="1"/>
          </p:cNvPicPr>
          <p:nvPr>
            <p:ph idx="1"/>
          </p:nvPr>
        </p:nvPicPr>
        <p:blipFill>
          <a:blip r:embed="rId3"/>
          <a:stretch>
            <a:fillRect/>
          </a:stretch>
        </p:blipFill>
        <p:spPr>
          <a:xfrm>
            <a:off x="644093" y="1446212"/>
            <a:ext cx="4523333" cy="4910138"/>
          </a:xfrm>
          <a:prstGeom prst="rect">
            <a:avLst/>
          </a:prstGeom>
        </p:spPr>
      </p:pic>
      <p:sp>
        <p:nvSpPr>
          <p:cNvPr id="7" name="TextBox 6">
            <a:extLst>
              <a:ext uri="{FF2B5EF4-FFF2-40B4-BE49-F238E27FC236}">
                <a16:creationId xmlns:a16="http://schemas.microsoft.com/office/drawing/2014/main" id="{A7215B87-7C77-4168-3906-ACB1733CC1EA}"/>
              </a:ext>
            </a:extLst>
          </p:cNvPr>
          <p:cNvSpPr txBox="1"/>
          <p:nvPr/>
        </p:nvSpPr>
        <p:spPr>
          <a:xfrm>
            <a:off x="5638800" y="1184602"/>
            <a:ext cx="6075680" cy="5293757"/>
          </a:xfrm>
          <a:prstGeom prst="rect">
            <a:avLst/>
          </a:prstGeom>
          <a:noFill/>
        </p:spPr>
        <p:txBody>
          <a:bodyPr wrap="square" rtlCol="0">
            <a:spAutoFit/>
          </a:bodyPr>
          <a:lstStyle/>
          <a:p>
            <a:r>
              <a:rPr lang="en-IN" sz="2800" b="1" dirty="0"/>
              <a:t>Game Interface</a:t>
            </a:r>
          </a:p>
          <a:p>
            <a:endParaRPr lang="en-US" dirty="0"/>
          </a:p>
          <a:p>
            <a:r>
              <a:rPr lang="en-US" sz="2400" dirty="0"/>
              <a:t>This Output shows the main graphical interface of the Tic-Tac-Toe game built using </a:t>
            </a:r>
            <a:r>
              <a:rPr lang="en-US" sz="2400" dirty="0" err="1"/>
              <a:t>Pygame</a:t>
            </a:r>
            <a:r>
              <a:rPr lang="en-US" sz="2400" dirty="0"/>
              <a:t>. The board consists of a 3×3 grid where the human player and the AI take turns placing O and X respectively. The design includes smooth borders, highlighted marks, and clear spacing to ensure good visibility. The interface also displays buttons such as </a:t>
            </a:r>
            <a:r>
              <a:rPr lang="en-US" sz="2400" b="1" dirty="0"/>
              <a:t>New Game</a:t>
            </a:r>
            <a:r>
              <a:rPr lang="en-US" sz="2400" dirty="0"/>
              <a:t>, </a:t>
            </a:r>
            <a:r>
              <a:rPr lang="en-US" sz="2400" b="1" dirty="0"/>
              <a:t>AI First</a:t>
            </a:r>
            <a:r>
              <a:rPr lang="en-US" sz="2400" dirty="0"/>
              <a:t>, and </a:t>
            </a:r>
            <a:r>
              <a:rPr lang="en-US" sz="2400" b="1" dirty="0"/>
              <a:t>Reset Stats</a:t>
            </a:r>
            <a:r>
              <a:rPr lang="en-US" sz="2400" dirty="0"/>
              <a:t>, allowing the user to control and restart gameplay. This serves as the base screen before or during match play.</a:t>
            </a:r>
            <a:endParaRPr lang="en-IN" sz="2400" dirty="0"/>
          </a:p>
          <a:p>
            <a:endParaRPr lang="en-IN" sz="2800" dirty="0"/>
          </a:p>
        </p:txBody>
      </p:sp>
    </p:spTree>
    <p:extLst>
      <p:ext uri="{BB962C8B-B14F-4D97-AF65-F5344CB8AC3E}">
        <p14:creationId xmlns:p14="http://schemas.microsoft.com/office/powerpoint/2010/main" val="280526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DEF6EB4-D9FD-BA1A-8B13-BB557CEC061E}"/>
              </a:ext>
            </a:extLst>
          </p:cNvPr>
          <p:cNvSpPr>
            <a:spLocks noGrp="1"/>
          </p:cNvSpPr>
          <p:nvPr>
            <p:ph type="dt" sz="half" idx="10"/>
          </p:nvPr>
        </p:nvSpPr>
        <p:spPr/>
        <p:txBody>
          <a:bodyPr/>
          <a:lstStyle/>
          <a:p>
            <a:fld id="{8A67A983-ECC0-4AAA-8372-8FC347684302}" type="datetime1">
              <a:rPr lang="en-US" smtClean="0"/>
              <a:t>11/5/2025</a:t>
            </a:fld>
            <a:endParaRPr lang="en-US"/>
          </a:p>
        </p:txBody>
      </p:sp>
      <p:sp>
        <p:nvSpPr>
          <p:cNvPr id="5" name="Slide Number Placeholder 4">
            <a:extLst>
              <a:ext uri="{FF2B5EF4-FFF2-40B4-BE49-F238E27FC236}">
                <a16:creationId xmlns:a16="http://schemas.microsoft.com/office/drawing/2014/main" id="{53B8D890-A391-7FA1-3346-046E63E846B6}"/>
              </a:ext>
            </a:extLst>
          </p:cNvPr>
          <p:cNvSpPr>
            <a:spLocks noGrp="1"/>
          </p:cNvSpPr>
          <p:nvPr>
            <p:ph type="sldNum" sz="quarter" idx="12"/>
          </p:nvPr>
        </p:nvSpPr>
        <p:spPr/>
        <p:txBody>
          <a:bodyPr/>
          <a:lstStyle/>
          <a:p>
            <a:fld id="{1FCEF87E-815D-44D1-B0AB-39AF0402D6A8}" type="slidenum">
              <a:rPr lang="en-US" smtClean="0"/>
              <a:t>6</a:t>
            </a:fld>
            <a:endParaRPr lang="en-US" dirty="0"/>
          </a:p>
        </p:txBody>
      </p:sp>
      <p:sp>
        <p:nvSpPr>
          <p:cNvPr id="6" name="Title 1">
            <a:extLst>
              <a:ext uri="{FF2B5EF4-FFF2-40B4-BE49-F238E27FC236}">
                <a16:creationId xmlns:a16="http://schemas.microsoft.com/office/drawing/2014/main" id="{C1A76085-D576-A462-14FC-19A7EBA4DACC}"/>
              </a:ext>
            </a:extLst>
          </p:cNvPr>
          <p:cNvSpPr>
            <a:spLocks noGrp="1"/>
          </p:cNvSpPr>
          <p:nvPr>
            <p:ph type="title"/>
          </p:nvPr>
        </p:nvSpPr>
        <p:spPr>
          <a:xfrm>
            <a:off x="0" y="329566"/>
            <a:ext cx="12192000" cy="666114"/>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pic>
        <p:nvPicPr>
          <p:cNvPr id="7" name="Content Placeholder 6" descr="fd16ca76-1663-446b-bd67-4398028ecd55.png">
            <a:extLst>
              <a:ext uri="{FF2B5EF4-FFF2-40B4-BE49-F238E27FC236}">
                <a16:creationId xmlns:a16="http://schemas.microsoft.com/office/drawing/2014/main" id="{B68855AA-35B0-4377-174B-511FC35484AF}"/>
              </a:ext>
            </a:extLst>
          </p:cNvPr>
          <p:cNvPicPr>
            <a:picLocks noGrp="1" noChangeAspect="1"/>
          </p:cNvPicPr>
          <p:nvPr>
            <p:ph idx="1"/>
          </p:nvPr>
        </p:nvPicPr>
        <p:blipFill>
          <a:blip r:embed="rId2"/>
          <a:stretch>
            <a:fillRect/>
          </a:stretch>
        </p:blipFill>
        <p:spPr>
          <a:xfrm>
            <a:off x="716280" y="1761172"/>
            <a:ext cx="3992090" cy="4351338"/>
          </a:xfrm>
          <a:prstGeom prst="rect">
            <a:avLst/>
          </a:prstGeom>
        </p:spPr>
      </p:pic>
      <p:sp>
        <p:nvSpPr>
          <p:cNvPr id="10" name="TextBox 9">
            <a:extLst>
              <a:ext uri="{FF2B5EF4-FFF2-40B4-BE49-F238E27FC236}">
                <a16:creationId xmlns:a16="http://schemas.microsoft.com/office/drawing/2014/main" id="{F32FDD82-7CB3-9CDD-EDD7-F1D18CB676E4}"/>
              </a:ext>
            </a:extLst>
          </p:cNvPr>
          <p:cNvSpPr txBox="1"/>
          <p:nvPr/>
        </p:nvSpPr>
        <p:spPr>
          <a:xfrm>
            <a:off x="5323840" y="1282084"/>
            <a:ext cx="6573520" cy="4924425"/>
          </a:xfrm>
          <a:prstGeom prst="rect">
            <a:avLst/>
          </a:prstGeom>
          <a:noFill/>
        </p:spPr>
        <p:txBody>
          <a:bodyPr wrap="square" rtlCol="0">
            <a:spAutoFit/>
          </a:bodyPr>
          <a:lstStyle/>
          <a:p>
            <a:r>
              <a:rPr lang="en-IN" sz="2800" b="1" dirty="0"/>
              <a:t>Draw Scenario</a:t>
            </a:r>
          </a:p>
          <a:p>
            <a:endParaRPr lang="en-IN" dirty="0"/>
          </a:p>
          <a:p>
            <a:r>
              <a:rPr lang="en-IN" sz="2400" dirty="0"/>
              <a:t>This screenshot shows a match that ends in a </a:t>
            </a:r>
            <a:r>
              <a:rPr lang="en-IN" sz="2400" b="1" dirty="0"/>
              <a:t>draw</a:t>
            </a:r>
            <a:r>
              <a:rPr lang="en-IN" sz="2400" dirty="0"/>
              <a:t>. Both the human and the AI have played optimally, resulting in no possible winning move for either side. The </a:t>
            </a:r>
            <a:r>
              <a:rPr lang="en-IN" sz="2400" dirty="0" err="1"/>
              <a:t>MiniMax</a:t>
            </a:r>
            <a:r>
              <a:rPr lang="en-IN" sz="2400" dirty="0"/>
              <a:t> algorithm ensures that the AI never loses when both players play perfectly, demonstrating correct implementation. A message </a:t>
            </a:r>
            <a:r>
              <a:rPr lang="en-IN" sz="2400" b="1" dirty="0"/>
              <a:t>“IT'S A DRAW! ”</a:t>
            </a:r>
            <a:r>
              <a:rPr lang="en-IN" sz="2400" dirty="0"/>
              <a:t> appears, indicating the game ended without a winner. This verifies the algorithm’s ability to identify and enforce draw situations.</a:t>
            </a:r>
          </a:p>
          <a:p>
            <a:endParaRPr lang="en-IN" sz="2800" b="1" dirty="0"/>
          </a:p>
        </p:txBody>
      </p:sp>
    </p:spTree>
    <p:extLst>
      <p:ext uri="{BB962C8B-B14F-4D97-AF65-F5344CB8AC3E}">
        <p14:creationId xmlns:p14="http://schemas.microsoft.com/office/powerpoint/2010/main" val="56470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823DAE50-138C-47EE-8ABE-6738BC99C04D}" type="datetime1">
              <a:rPr lang="en-US" smtClean="0"/>
              <a:t>11/5/2025</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7</a:t>
            </a:fld>
            <a:endParaRPr lang="en-US"/>
          </a:p>
        </p:txBody>
      </p:sp>
      <p:pic>
        <p:nvPicPr>
          <p:cNvPr id="6" name="Content Placeholder 5" descr="15e6ea32-3453-4936-87cb-e94d11e6189a.png">
            <a:extLst>
              <a:ext uri="{FF2B5EF4-FFF2-40B4-BE49-F238E27FC236}">
                <a16:creationId xmlns:a16="http://schemas.microsoft.com/office/drawing/2014/main" id="{ADB76A4E-8A88-F7DB-3C25-B038A80649AE}"/>
              </a:ext>
            </a:extLst>
          </p:cNvPr>
          <p:cNvPicPr>
            <a:picLocks noGrp="1" noChangeAspect="1"/>
          </p:cNvPicPr>
          <p:nvPr>
            <p:ph idx="1"/>
          </p:nvPr>
        </p:nvPicPr>
        <p:blipFill>
          <a:blip r:embed="rId2"/>
          <a:stretch>
            <a:fillRect/>
          </a:stretch>
        </p:blipFill>
        <p:spPr>
          <a:xfrm>
            <a:off x="838200" y="1317625"/>
            <a:ext cx="4574204" cy="4910138"/>
          </a:xfrm>
          <a:prstGeom prst="rect">
            <a:avLst/>
          </a:prstGeom>
        </p:spPr>
      </p:pic>
      <p:sp>
        <p:nvSpPr>
          <p:cNvPr id="8" name="TextBox 7">
            <a:extLst>
              <a:ext uri="{FF2B5EF4-FFF2-40B4-BE49-F238E27FC236}">
                <a16:creationId xmlns:a16="http://schemas.microsoft.com/office/drawing/2014/main" id="{B2C5B051-DE3A-553E-4148-EE6BF16A8614}"/>
              </a:ext>
            </a:extLst>
          </p:cNvPr>
          <p:cNvSpPr txBox="1"/>
          <p:nvPr/>
        </p:nvSpPr>
        <p:spPr>
          <a:xfrm>
            <a:off x="6004560" y="1317625"/>
            <a:ext cx="5349240" cy="5632311"/>
          </a:xfrm>
          <a:prstGeom prst="rect">
            <a:avLst/>
          </a:prstGeom>
          <a:noFill/>
        </p:spPr>
        <p:txBody>
          <a:bodyPr wrap="square" rtlCol="0">
            <a:spAutoFit/>
          </a:bodyPr>
          <a:lstStyle/>
          <a:p>
            <a:r>
              <a:rPr lang="en-IN" sz="2800" b="1" dirty="0"/>
              <a:t>AI Winning Scenario</a:t>
            </a:r>
          </a:p>
          <a:p>
            <a:endParaRPr lang="en-IN" sz="2800" b="1" dirty="0"/>
          </a:p>
          <a:p>
            <a:r>
              <a:rPr lang="en-IN" sz="2300" dirty="0"/>
              <a:t>In this Output, the AI (</a:t>
            </a:r>
            <a:r>
              <a:rPr lang="en-IN" sz="2300" b="1" dirty="0"/>
              <a:t>X</a:t>
            </a:r>
            <a:r>
              <a:rPr lang="en-IN" sz="2300" dirty="0"/>
              <a:t>) wins the match. After </a:t>
            </a:r>
            <a:r>
              <a:rPr lang="en-IN" sz="2300" dirty="0" err="1"/>
              <a:t>analyzing</a:t>
            </a:r>
            <a:r>
              <a:rPr lang="en-IN" sz="2300" dirty="0"/>
              <a:t> all possible moves using the </a:t>
            </a:r>
            <a:r>
              <a:rPr lang="en-IN" sz="2300" dirty="0" err="1"/>
              <a:t>MiniMax</a:t>
            </a:r>
            <a:r>
              <a:rPr lang="en-IN" sz="2300" dirty="0"/>
              <a:t> algorithm with Alpha-Beta Pruning, the AI selects optimal moves to either win or ensure the opponent cannot win. Once a winning state is detected, the interface displays a highlighted message: </a:t>
            </a:r>
            <a:r>
              <a:rPr lang="en-IN" sz="2300" b="1" dirty="0"/>
              <a:t>“AI WINS! 🤖”</a:t>
            </a:r>
            <a:r>
              <a:rPr lang="en-IN" sz="2300" dirty="0"/>
              <a:t>, showing that the algorithm has successfully played strategically and achieved a victory. The board and result overlay confirm a flawless AI decision-making process.</a:t>
            </a:r>
          </a:p>
          <a:p>
            <a:endParaRPr lang="en-IN" sz="2800" b="1" dirty="0"/>
          </a:p>
        </p:txBody>
      </p:sp>
    </p:spTree>
    <p:extLst>
      <p:ext uri="{BB962C8B-B14F-4D97-AF65-F5344CB8AC3E}">
        <p14:creationId xmlns:p14="http://schemas.microsoft.com/office/powerpoint/2010/main" val="126336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0EE70D7-5351-61CC-2293-AACCA58A8260}"/>
              </a:ext>
            </a:extLst>
          </p:cNvPr>
          <p:cNvSpPr>
            <a:spLocks noGrp="1"/>
          </p:cNvSpPr>
          <p:nvPr>
            <p:ph type="dt" sz="half" idx="10"/>
          </p:nvPr>
        </p:nvSpPr>
        <p:spPr/>
        <p:txBody>
          <a:bodyPr/>
          <a:lstStyle/>
          <a:p>
            <a:fld id="{8A67A983-ECC0-4AAA-8372-8FC347684302}" type="datetime1">
              <a:rPr lang="en-US" smtClean="0"/>
              <a:t>11/5/2025</a:t>
            </a:fld>
            <a:endParaRPr lang="en-US"/>
          </a:p>
        </p:txBody>
      </p:sp>
      <p:sp>
        <p:nvSpPr>
          <p:cNvPr id="5" name="Slide Number Placeholder 4">
            <a:extLst>
              <a:ext uri="{FF2B5EF4-FFF2-40B4-BE49-F238E27FC236}">
                <a16:creationId xmlns:a16="http://schemas.microsoft.com/office/drawing/2014/main" id="{14D9471A-F3FB-DAA5-C816-EF7D1D8FD9F0}"/>
              </a:ext>
            </a:extLst>
          </p:cNvPr>
          <p:cNvSpPr>
            <a:spLocks noGrp="1"/>
          </p:cNvSpPr>
          <p:nvPr>
            <p:ph type="sldNum" sz="quarter" idx="12"/>
          </p:nvPr>
        </p:nvSpPr>
        <p:spPr/>
        <p:txBody>
          <a:bodyPr/>
          <a:lstStyle/>
          <a:p>
            <a:fld id="{1FCEF87E-815D-44D1-B0AB-39AF0402D6A8}" type="slidenum">
              <a:rPr lang="en-US" smtClean="0"/>
              <a:t>8</a:t>
            </a:fld>
            <a:endParaRPr lang="en-US"/>
          </a:p>
        </p:txBody>
      </p:sp>
      <p:sp>
        <p:nvSpPr>
          <p:cNvPr id="6" name="Title 1">
            <a:extLst>
              <a:ext uri="{FF2B5EF4-FFF2-40B4-BE49-F238E27FC236}">
                <a16:creationId xmlns:a16="http://schemas.microsoft.com/office/drawing/2014/main" id="{F5FC1505-5C33-2600-ABAA-A1AA086DB065}"/>
              </a:ext>
            </a:extLst>
          </p:cNvPr>
          <p:cNvSpPr>
            <a:spLocks noGrp="1"/>
          </p:cNvSpPr>
          <p:nvPr>
            <p:ph type="title"/>
          </p:nvPr>
        </p:nvSpPr>
        <p:spPr>
          <a:xfrm>
            <a:off x="0" y="365125"/>
            <a:ext cx="12192000" cy="600075"/>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pic>
        <p:nvPicPr>
          <p:cNvPr id="7" name="Content Placeholder 6" descr="3643e5a4-c7fb-4435-8363-82a719cd95ec.png">
            <a:extLst>
              <a:ext uri="{FF2B5EF4-FFF2-40B4-BE49-F238E27FC236}">
                <a16:creationId xmlns:a16="http://schemas.microsoft.com/office/drawing/2014/main" id="{A50B5151-E8DF-95E7-2BDC-EB1DBD25E3F1}"/>
              </a:ext>
            </a:extLst>
          </p:cNvPr>
          <p:cNvPicPr>
            <a:picLocks noGrp="1" noChangeAspect="1"/>
          </p:cNvPicPr>
          <p:nvPr>
            <p:ph idx="1"/>
          </p:nvPr>
        </p:nvPicPr>
        <p:blipFill>
          <a:blip r:embed="rId2"/>
          <a:stretch>
            <a:fillRect/>
          </a:stretch>
        </p:blipFill>
        <p:spPr>
          <a:xfrm>
            <a:off x="610954" y="2005012"/>
            <a:ext cx="4020652" cy="4351338"/>
          </a:xfrm>
          <a:prstGeom prst="rect">
            <a:avLst/>
          </a:prstGeom>
        </p:spPr>
      </p:pic>
      <p:sp>
        <p:nvSpPr>
          <p:cNvPr id="12" name="TextBox 11">
            <a:extLst>
              <a:ext uri="{FF2B5EF4-FFF2-40B4-BE49-F238E27FC236}">
                <a16:creationId xmlns:a16="http://schemas.microsoft.com/office/drawing/2014/main" id="{82AE4562-37E8-D491-BA96-02EEA0B408C5}"/>
              </a:ext>
            </a:extLst>
          </p:cNvPr>
          <p:cNvSpPr txBox="1"/>
          <p:nvPr/>
        </p:nvSpPr>
        <p:spPr>
          <a:xfrm>
            <a:off x="4878154" y="1223496"/>
            <a:ext cx="6817360" cy="5078313"/>
          </a:xfrm>
          <a:prstGeom prst="rect">
            <a:avLst/>
          </a:prstGeom>
          <a:noFill/>
        </p:spPr>
        <p:txBody>
          <a:bodyPr wrap="square" rtlCol="0">
            <a:spAutoFit/>
          </a:bodyPr>
          <a:lstStyle/>
          <a:p>
            <a:r>
              <a:rPr lang="en-IN" sz="2800" b="1" dirty="0"/>
              <a:t>Nodes &amp; Pruning Display</a:t>
            </a:r>
          </a:p>
          <a:p>
            <a:endParaRPr lang="en-IN" sz="2800" b="1" dirty="0"/>
          </a:p>
          <a:p>
            <a:r>
              <a:rPr lang="en-US" sz="2400" dirty="0"/>
              <a:t>This output demonstrates the internal AI performance statistics, such as the number of </a:t>
            </a:r>
            <a:r>
              <a:rPr lang="en-US" sz="2400" b="1" dirty="0"/>
              <a:t>nodes evaluated</a:t>
            </a:r>
            <a:r>
              <a:rPr lang="en-US" sz="2400" dirty="0"/>
              <a:t>, </a:t>
            </a:r>
            <a:r>
              <a:rPr lang="en-US" sz="2400" b="1" dirty="0"/>
              <a:t>nodes pruned</a:t>
            </a:r>
            <a:r>
              <a:rPr lang="en-US" sz="2400" dirty="0"/>
              <a:t>, and </a:t>
            </a:r>
            <a:r>
              <a:rPr lang="en-US" sz="2400" b="1" dirty="0"/>
              <a:t>computation time</a:t>
            </a:r>
            <a:r>
              <a:rPr lang="en-US" sz="2400" dirty="0"/>
              <a:t> for generating the best move. These metrics highlight the efficiency of Alpha-Beta pruning, which eliminates unnecessary branches in the search tree to speed up decision-making. Displaying these values provides transparency in algorithm functioning and proves that the AI is working with optimized search logic.</a:t>
            </a:r>
            <a:endParaRPr lang="en-IN" sz="2400" dirty="0"/>
          </a:p>
          <a:p>
            <a:endParaRPr lang="en-IN" sz="2800" b="1" dirty="0"/>
          </a:p>
        </p:txBody>
      </p:sp>
    </p:spTree>
    <p:extLst>
      <p:ext uri="{BB962C8B-B14F-4D97-AF65-F5344CB8AC3E}">
        <p14:creationId xmlns:p14="http://schemas.microsoft.com/office/powerpoint/2010/main" val="3069810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91C241-6DC0-F5D2-DB1E-6498695494DB}"/>
              </a:ext>
            </a:extLst>
          </p:cNvPr>
          <p:cNvSpPr>
            <a:spLocks noGrp="1"/>
          </p:cNvSpPr>
          <p:nvPr>
            <p:ph idx="1"/>
          </p:nvPr>
        </p:nvSpPr>
        <p:spPr/>
        <p:txBody>
          <a:bodyPr/>
          <a:lstStyle/>
          <a:p>
            <a:pPr marL="0" indent="0">
              <a:buNone/>
            </a:pPr>
            <a:r>
              <a:rPr lang="en-IN" dirty="0"/>
              <a:t>• Successfully implemented intelligent Tic-Tac-Toe AI.</a:t>
            </a:r>
          </a:p>
          <a:p>
            <a:pPr marL="0" indent="0">
              <a:buNone/>
            </a:pPr>
            <a:r>
              <a:rPr lang="en-IN" dirty="0"/>
              <a:t>• </a:t>
            </a:r>
            <a:r>
              <a:rPr lang="en-IN" dirty="0" err="1"/>
              <a:t>MiniMax</a:t>
            </a:r>
            <a:r>
              <a:rPr lang="en-IN" dirty="0"/>
              <a:t> ensures optimal gameplay.</a:t>
            </a:r>
          </a:p>
          <a:p>
            <a:pPr marL="0" indent="0">
              <a:buNone/>
            </a:pPr>
            <a:r>
              <a:rPr lang="en-IN" dirty="0"/>
              <a:t>• Alpha-Beta pruning improves computation time.</a:t>
            </a:r>
          </a:p>
          <a:p>
            <a:pPr marL="0" indent="0">
              <a:buNone/>
            </a:pPr>
            <a:r>
              <a:rPr lang="en-IN" b="1" dirty="0"/>
              <a:t>• Future Enhancements:</a:t>
            </a:r>
          </a:p>
          <a:p>
            <a:pPr marL="0" indent="0">
              <a:buNone/>
            </a:pPr>
            <a:r>
              <a:rPr lang="en-IN" dirty="0"/>
              <a:t>   - Multiplayer mode</a:t>
            </a:r>
          </a:p>
          <a:p>
            <a:pPr marL="0" indent="0">
              <a:buNone/>
            </a:pPr>
            <a:r>
              <a:rPr lang="en-IN" dirty="0"/>
              <a:t>   - AI difficulty levels</a:t>
            </a:r>
          </a:p>
          <a:p>
            <a:pPr marL="0" indent="0">
              <a:buNone/>
            </a:pPr>
            <a:r>
              <a:rPr lang="en-IN" dirty="0"/>
              <a:t>   - Heuristic learning and sound effects</a:t>
            </a:r>
          </a:p>
          <a:p>
            <a:pPr marL="0" indent="0">
              <a:buNone/>
            </a:pPr>
            <a:endParaRPr lang="en-IN" dirty="0"/>
          </a:p>
        </p:txBody>
      </p:sp>
      <p:sp>
        <p:nvSpPr>
          <p:cNvPr id="4" name="Date Placeholder 3">
            <a:extLst>
              <a:ext uri="{FF2B5EF4-FFF2-40B4-BE49-F238E27FC236}">
                <a16:creationId xmlns:a16="http://schemas.microsoft.com/office/drawing/2014/main" id="{33F1F186-9FFA-EEA4-36A9-161B30A7255A}"/>
              </a:ext>
            </a:extLst>
          </p:cNvPr>
          <p:cNvSpPr>
            <a:spLocks noGrp="1"/>
          </p:cNvSpPr>
          <p:nvPr>
            <p:ph type="dt" sz="half" idx="10"/>
          </p:nvPr>
        </p:nvSpPr>
        <p:spPr/>
        <p:txBody>
          <a:bodyPr/>
          <a:lstStyle/>
          <a:p>
            <a:fld id="{8A67A983-ECC0-4AAA-8372-8FC347684302}" type="datetime1">
              <a:rPr lang="en-US" smtClean="0"/>
              <a:t>11/5/2025</a:t>
            </a:fld>
            <a:endParaRPr lang="en-US"/>
          </a:p>
        </p:txBody>
      </p:sp>
      <p:sp>
        <p:nvSpPr>
          <p:cNvPr id="5" name="Slide Number Placeholder 4">
            <a:extLst>
              <a:ext uri="{FF2B5EF4-FFF2-40B4-BE49-F238E27FC236}">
                <a16:creationId xmlns:a16="http://schemas.microsoft.com/office/drawing/2014/main" id="{5F38F640-0684-3B63-8224-C8E5F4970322}"/>
              </a:ext>
            </a:extLst>
          </p:cNvPr>
          <p:cNvSpPr>
            <a:spLocks noGrp="1"/>
          </p:cNvSpPr>
          <p:nvPr>
            <p:ph type="sldNum" sz="quarter" idx="12"/>
          </p:nvPr>
        </p:nvSpPr>
        <p:spPr/>
        <p:txBody>
          <a:bodyPr/>
          <a:lstStyle/>
          <a:p>
            <a:fld id="{1FCEF87E-815D-44D1-B0AB-39AF0402D6A8}" type="slidenum">
              <a:rPr lang="en-US" smtClean="0"/>
              <a:t>9</a:t>
            </a:fld>
            <a:endParaRPr lang="en-US"/>
          </a:p>
        </p:txBody>
      </p:sp>
      <p:sp>
        <p:nvSpPr>
          <p:cNvPr id="6" name="Title 1">
            <a:extLst>
              <a:ext uri="{FF2B5EF4-FFF2-40B4-BE49-F238E27FC236}">
                <a16:creationId xmlns:a16="http://schemas.microsoft.com/office/drawing/2014/main" id="{714598EF-ABCD-5683-D7A2-0F0A4212462E}"/>
              </a:ext>
            </a:extLst>
          </p:cNvPr>
          <p:cNvSpPr>
            <a:spLocks noGrp="1"/>
          </p:cNvSpPr>
          <p:nvPr>
            <p:ph type="title"/>
          </p:nvPr>
        </p:nvSpPr>
        <p:spPr>
          <a:xfrm>
            <a:off x="0" y="264159"/>
            <a:ext cx="12192000" cy="629921"/>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Tree>
    <p:extLst>
      <p:ext uri="{BB962C8B-B14F-4D97-AF65-F5344CB8AC3E}">
        <p14:creationId xmlns:p14="http://schemas.microsoft.com/office/powerpoint/2010/main" val="2508087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838200" y="1267326"/>
            <a:ext cx="10515600" cy="4909637"/>
          </a:xfrm>
        </p:spPr>
        <p:txBody>
          <a:bodyPr>
            <a:normAutofit fontScale="47500" lnSpcReduction="20000"/>
          </a:bodyPr>
          <a:lstStyle/>
          <a:p>
            <a:r>
              <a:rPr lang="en-IN" sz="3400" b="1" dirty="0"/>
              <a:t>📖 Books / E-Books</a:t>
            </a:r>
          </a:p>
          <a:p>
            <a:r>
              <a:rPr lang="en-IN" sz="3400" dirty="0"/>
              <a:t>1️⃣ </a:t>
            </a:r>
            <a:r>
              <a:rPr lang="en-IN" sz="3400" b="1" dirty="0"/>
              <a:t>Artificial Intelligence: A Modern Approach</a:t>
            </a:r>
            <a:br>
              <a:rPr lang="en-IN" sz="3400" dirty="0"/>
            </a:br>
            <a:r>
              <a:rPr lang="en-IN" sz="3400" i="1" dirty="0"/>
              <a:t>Stuart Russell &amp; Peter Norvig</a:t>
            </a:r>
            <a:br>
              <a:rPr lang="en-IN" sz="3400" dirty="0"/>
            </a:br>
            <a:r>
              <a:rPr lang="en-IN" sz="3400" dirty="0"/>
              <a:t>Prentice Hall, 3rd Edition</a:t>
            </a:r>
            <a:br>
              <a:rPr lang="en-IN" sz="3400" dirty="0"/>
            </a:br>
            <a:r>
              <a:rPr lang="en-IN" sz="3400" dirty="0"/>
              <a:t>(Chapters on adversarial search, </a:t>
            </a:r>
            <a:r>
              <a:rPr lang="en-IN" sz="3400" dirty="0" err="1"/>
              <a:t>MiniMax</a:t>
            </a:r>
            <a:r>
              <a:rPr lang="en-IN" sz="3400" dirty="0"/>
              <a:t>, alpha-beta pruning)</a:t>
            </a:r>
          </a:p>
          <a:p>
            <a:r>
              <a:rPr lang="en-IN" sz="3400" dirty="0"/>
              <a:t>2️⃣ </a:t>
            </a:r>
            <a:r>
              <a:rPr lang="en-IN" sz="3400" b="1" dirty="0"/>
              <a:t>Python Game Programming by Example</a:t>
            </a:r>
            <a:br>
              <a:rPr lang="en-IN" sz="3400" dirty="0"/>
            </a:br>
            <a:r>
              <a:rPr lang="en-IN" sz="3400" i="1" dirty="0"/>
              <a:t>A. </a:t>
            </a:r>
            <a:r>
              <a:rPr lang="en-IN" sz="3400" i="1" dirty="0" err="1"/>
              <a:t>Shovic</a:t>
            </a:r>
            <a:r>
              <a:rPr lang="en-IN" sz="3400" i="1" dirty="0"/>
              <a:t> &amp; M. Wiemer</a:t>
            </a:r>
            <a:br>
              <a:rPr lang="en-IN" sz="3400" dirty="0"/>
            </a:br>
            <a:r>
              <a:rPr lang="en-IN" sz="3400" dirty="0" err="1"/>
              <a:t>Packt</a:t>
            </a:r>
            <a:r>
              <a:rPr lang="en-IN" sz="3400" dirty="0"/>
              <a:t> Publishing</a:t>
            </a:r>
            <a:br>
              <a:rPr lang="en-IN" sz="3400" dirty="0"/>
            </a:br>
            <a:r>
              <a:rPr lang="en-IN" sz="3400" dirty="0"/>
              <a:t>(Reference for </a:t>
            </a:r>
            <a:r>
              <a:rPr lang="en-IN" sz="3400" dirty="0" err="1"/>
              <a:t>Pygame</a:t>
            </a:r>
            <a:r>
              <a:rPr lang="en-IN" sz="3400" dirty="0"/>
              <a:t> usage and game loop structure)</a:t>
            </a:r>
          </a:p>
          <a:p>
            <a:r>
              <a:rPr lang="en-IN" sz="3400" dirty="0"/>
              <a:t>3️⃣ </a:t>
            </a:r>
            <a:r>
              <a:rPr lang="en-IN" sz="3400" b="1" dirty="0"/>
              <a:t>Artificial Intelligence (Sixth Edition)</a:t>
            </a:r>
            <a:br>
              <a:rPr lang="en-IN" sz="3400" dirty="0"/>
            </a:br>
            <a:r>
              <a:rPr lang="en-IN" sz="3400" i="1" dirty="0"/>
              <a:t>Elaine Rich &amp; Kevin Knight</a:t>
            </a:r>
            <a:br>
              <a:rPr lang="en-IN" sz="3400" dirty="0"/>
            </a:br>
            <a:r>
              <a:rPr lang="en-IN" sz="3400" dirty="0"/>
              <a:t>McGraw-Hill</a:t>
            </a:r>
            <a:br>
              <a:rPr lang="en-IN" sz="3400" dirty="0"/>
            </a:br>
            <a:r>
              <a:rPr lang="en-IN" sz="3400" dirty="0"/>
              <a:t>(Heuristic search &amp; game-playing concepts)</a:t>
            </a:r>
          </a:p>
          <a:p>
            <a:pPr marL="0" indent="0">
              <a:buNone/>
            </a:pPr>
            <a:endParaRPr lang="en-IN" sz="3400" dirty="0"/>
          </a:p>
          <a:p>
            <a:r>
              <a:rPr lang="en-IN" sz="3400" b="1" dirty="0"/>
              <a:t>🌐 Online Standard References</a:t>
            </a:r>
          </a:p>
          <a:p>
            <a:r>
              <a:rPr lang="en-IN" sz="3400" dirty="0"/>
              <a:t>4️⃣ </a:t>
            </a:r>
            <a:r>
              <a:rPr lang="en-IN" sz="3400" b="1" dirty="0" err="1"/>
              <a:t>GeeksforGeeks</a:t>
            </a:r>
            <a:r>
              <a:rPr lang="en-IN" sz="3400" b="1" dirty="0"/>
              <a:t> — </a:t>
            </a:r>
            <a:r>
              <a:rPr lang="en-IN" sz="3400" b="1" dirty="0" err="1"/>
              <a:t>MiniMax</a:t>
            </a:r>
            <a:r>
              <a:rPr lang="en-IN" sz="3400" b="1" dirty="0"/>
              <a:t> Algorithm in Game Theory</a:t>
            </a:r>
            <a:br>
              <a:rPr lang="en-IN" sz="3400" dirty="0"/>
            </a:br>
            <a:r>
              <a:rPr lang="en-IN" sz="3400" dirty="0">
                <a:hlinkClick r:id="rId2"/>
              </a:rPr>
              <a:t>https://www.geeksforgeeks.org/minimax-algorithm-in-game-theory-set-1-introduction/</a:t>
            </a:r>
            <a:br>
              <a:rPr lang="en-IN" sz="3400" dirty="0"/>
            </a:br>
            <a:r>
              <a:rPr lang="en-IN" sz="3400" dirty="0"/>
              <a:t>(Concept explanation &amp; algorithm pseudocode)</a:t>
            </a:r>
          </a:p>
          <a:p>
            <a:r>
              <a:rPr lang="en-IN" sz="3400" dirty="0"/>
              <a:t>5️⃣ </a:t>
            </a:r>
            <a:r>
              <a:rPr lang="en-IN" sz="3400" b="1" dirty="0" err="1"/>
              <a:t>Pygame</a:t>
            </a:r>
            <a:r>
              <a:rPr lang="en-IN" sz="3400" b="1" dirty="0"/>
              <a:t> Official Documentation</a:t>
            </a:r>
            <a:br>
              <a:rPr lang="en-IN" sz="3400" dirty="0"/>
            </a:br>
            <a:r>
              <a:rPr lang="en-IN" sz="3400" dirty="0">
                <a:hlinkClick r:id="rId3"/>
              </a:rPr>
              <a:t>https://www.pygame.org/docs/</a:t>
            </a:r>
            <a:br>
              <a:rPr lang="en-IN" sz="3400" dirty="0"/>
            </a:br>
            <a:r>
              <a:rPr lang="en-IN" sz="3400" dirty="0"/>
              <a:t>(Reference for GUI development and event handling)</a:t>
            </a:r>
          </a:p>
          <a:p>
            <a:pPr lvl="0"/>
            <a:endParaRPr lang="en-US" dirty="0"/>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D1F2154A-4D40-4B18-B36D-B8CCA9DC1AAE}" type="datetime1">
              <a:rPr lang="en-US" smtClean="0"/>
              <a:t>11/5/2025</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10</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1065</Words>
  <Application>Microsoft Office PowerPoint</Application>
  <PresentationFormat>Widescreen</PresentationFormat>
  <Paragraphs>81</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DEPARTMENT OF ARTIFICIAL INTELLIGENCE AND DATA SCIENCE ACADEMIC YEAR 2025 - 2026 SEMESTER III ARTIFICIAL INTELLIGENCE LABORATORY  MINI PROJECT REVIEW            TIC-TAC-TOE USING MINIMAX WITH ALPHA-BETA PRUNING</vt:lpstr>
      <vt:lpstr>PROBLEM STATEMENT</vt:lpstr>
      <vt:lpstr>THEORETICAL BACKGROUND</vt:lpstr>
      <vt:lpstr>IMPLEMENTATION AND CODE</vt:lpstr>
      <vt:lpstr>OUTPUT AND RESULTS</vt:lpstr>
      <vt:lpstr>OUTPUT AND RESULTS</vt:lpstr>
      <vt:lpstr>OUTPUT AND RESULTS</vt:lpstr>
      <vt:lpstr>OUTPUT AND RESULTS</vt:lpstr>
      <vt:lpstr>OUTPUT AND 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 GANESH K</dc:creator>
  <cp:lastModifiedBy>dhoni kohli</cp:lastModifiedBy>
  <cp:revision>6</cp:revision>
  <dcterms:created xsi:type="dcterms:W3CDTF">2025-10-18T08:57:34Z</dcterms:created>
  <dcterms:modified xsi:type="dcterms:W3CDTF">2025-11-05T09:57:48Z</dcterms:modified>
</cp:coreProperties>
</file>